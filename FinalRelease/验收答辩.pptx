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10"/>
    <p:sldId id="264" r:id="rId11"/>
    <p:sldId id="266" r:id="rId12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</a:rPr>
              <a:t>Click to move the slide</a:t>
            </a:r>
            <a:endParaRPr lang="en-US" sz="60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D9D8E26B-D265-4A56-A64E-810CE8DEFB0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2F846-5C0E-455F-BED4-E3BC5A73B4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rmAutofit/>
          </a:bodyPr>
          <a:lstStyle>
            <a:lvl1pPr indent="0" algn="ctr" defTabSz="914400">
              <a:lnSpc>
                <a:spcPct val="100000"/>
              </a:lnSpc>
              <a:buNone/>
              <a:def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60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30181-BA96-4E51-BD8C-29A71EF10B5D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3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1pPr>
            <a:lvl2pPr lvl="1" algn="l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2pPr>
            <a:lvl3pPr lvl="2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3pPr>
            <a:lvl4pPr lvl="3" algn="l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  <a:def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4pPr>
            <a:lvl5pPr lvl="4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5pPr>
            <a:lvl6pPr lvl="5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6pPr>
            <a:lvl7pPr lvl="6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7pPr>
          </a:lstStyle>
          <a:p>
            <a:pPr marL="431800" indent="-323850" algn="l">
              <a:lnSpc>
                <a:spcPct val="13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Click to edit the outline text format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864235" lvl="1" indent="-323850" algn="l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Second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296035" lvl="2" indent="-288290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Third Outline Level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727835" lvl="3" indent="-215900" algn="l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</a:pPr>
            <a:r>
              <a: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Fourth Outline Level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160270" lvl="4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Fifth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592070" lvl="5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Sixth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3023870" lvl="6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Seventh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E62F97-3C6D-4743-9E72-99EFB5550F67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8400" y="774000"/>
            <a:ext cx="10972440" cy="5482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dt" idx="7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8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9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B1DC27-D796-4BBD-A275-50E7962987F2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8840" cy="101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ctr" defTabSz="914400">
              <a:lnSpc>
                <a:spcPct val="100000"/>
              </a:lnSpc>
              <a:buNone/>
              <a:def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单击此处编辑标题</a:t>
            </a:r>
            <a:endParaRPr lang="en-US" sz="60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1198800" y="3560400"/>
            <a:ext cx="979884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marL="228600" indent="-228600" algn="ctr" defTabSz="914400">
              <a:lnSpc>
                <a:spcPct val="110000"/>
              </a:lnSpc>
              <a:spcAft>
                <a:spcPts val="1000"/>
              </a:spcAft>
              <a:buNone/>
              <a:tabLst>
                <a:tab pos="0" algn="l"/>
              </a:tabLst>
              <a:defRPr lang="zh-CN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marL="228600" indent="-228600" algn="ctr" defTabSz="914400">
              <a:lnSpc>
                <a:spcPct val="11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2400" b="0" u="none" strike="noStrike" spc="201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3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1pPr>
            <a:lvl2pPr lvl="1" algn="l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2pPr>
            <a:lvl3pPr lvl="2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3pPr>
            <a:lvl4pPr lvl="3" algn="l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  <a:def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4pPr>
            <a:lvl5pPr lvl="4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5pPr>
            <a:lvl6pPr lvl="5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6pPr>
            <a:lvl7pPr lvl="6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  <a:def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7pPr>
          </a:lstStyle>
          <a:p>
            <a:pPr marL="431800" indent="-323850" algn="l">
              <a:lnSpc>
                <a:spcPct val="13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Click to edit the outline text format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864235" lvl="1" indent="-323850" algn="l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Second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296035" lvl="2" indent="-288290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Third Outline Level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727835" lvl="3" indent="-215900" algn="l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609090" algn="l"/>
              </a:tabLst>
            </a:pPr>
            <a:r>
              <a:rPr lang="en-US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Fourth Outline Level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160270" lvl="4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Fifth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592070" lvl="5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Sixth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3023870" lvl="6" indent="-215900" algn="l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09090" algn="l"/>
              </a:tabLst>
            </a:pPr>
            <a:r>
              <a:rPr lang="en-US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Seventh Outline Level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F8D77D-4FD1-4956-8D20-1EFE0042890F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440" cy="76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44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44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单击此处编辑标题</a:t>
            </a:r>
            <a:endParaRPr lang="en-US" sz="44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1990800" y="4615200"/>
            <a:ext cx="7768440" cy="86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 defTabSz="914400">
              <a:lnSpc>
                <a:spcPct val="130000"/>
              </a:lnSpc>
              <a:spcAft>
                <a:spcPts val="1000"/>
              </a:spcAft>
              <a:buNone/>
              <a:tabLst>
                <a:tab pos="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3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单击此处编辑文本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CED3EC-7144-4E5E-9087-F8DC7D4C7A4B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8400" y="1501200"/>
            <a:ext cx="5176440" cy="4748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411600" y="1501200"/>
            <a:ext cx="5176440" cy="4748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4052E-9B4D-44B0-B342-452CDDF0EEF6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 hasCustomPrompt="1"/>
          </p:nvPr>
        </p:nvSpPr>
        <p:spPr>
          <a:xfrm>
            <a:off x="608400" y="1429200"/>
            <a:ext cx="5342040" cy="381240"/>
          </a:xfrm>
          <a:prstGeom prst="rect">
            <a:avLst/>
          </a:prstGeom>
          <a:noFill/>
          <a:ln w="0">
            <a:noFill/>
          </a:ln>
        </p:spPr>
        <p:txBody>
          <a:bodyPr lIns="101520" tIns="38160" rIns="76320" bIns="38160" anchor="t">
            <a:normAutofit/>
          </a:bodyPr>
          <a:lstStyle>
            <a:lvl1pPr indent="0" algn="l" defTabSz="914400">
              <a:lnSpc>
                <a:spcPct val="100000"/>
              </a:lnSpc>
              <a:spcAft>
                <a:spcPts val="1000"/>
              </a:spcAft>
              <a:buNone/>
              <a:tabLst>
                <a:tab pos="0" algn="l"/>
              </a:tabLst>
              <a:defRPr lang="zh-CN" sz="2000" b="1" u="none" strike="noStrike" spc="201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2000" b="1" u="none" strike="noStrike" spc="201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单击此处编辑文本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08400" y="1854000"/>
            <a:ext cx="5342040" cy="4395240"/>
          </a:xfrm>
          <a:prstGeom prst="rect">
            <a:avLst/>
          </a:prstGeom>
          <a:noFill/>
          <a:ln w="0">
            <a:noFill/>
          </a:ln>
        </p:spPr>
        <p:txBody>
          <a:bodyPr lIns="101520" tIns="0" rIns="82440" bIns="0" anchor="t">
            <a:norm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 hasCustomPrompt="1"/>
          </p:nvPr>
        </p:nvSpPr>
        <p:spPr>
          <a:xfrm>
            <a:off x="6235920" y="1421640"/>
            <a:ext cx="5342040" cy="381240"/>
          </a:xfrm>
          <a:prstGeom prst="rect">
            <a:avLst/>
          </a:prstGeom>
          <a:noFill/>
          <a:ln w="0">
            <a:noFill/>
          </a:ln>
        </p:spPr>
        <p:txBody>
          <a:bodyPr lIns="101520" tIns="38160" rIns="76320" bIns="38160" anchor="t">
            <a:normAutofit/>
          </a:bodyPr>
          <a:lstStyle>
            <a:lvl1pPr indent="0" algn="l" defTabSz="914400">
              <a:lnSpc>
                <a:spcPct val="100000"/>
              </a:lnSpc>
              <a:spcAft>
                <a:spcPts val="1000"/>
              </a:spcAft>
              <a:buNone/>
              <a:tabLst>
                <a:tab pos="0" algn="l"/>
              </a:tabLst>
              <a:defRPr lang="zh-CN" sz="2000" b="1" u="none" strike="noStrike" spc="201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2000" b="1" u="none" strike="noStrike" spc="201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单击此处编辑文本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5920" y="1854000"/>
            <a:ext cx="5342040" cy="4395240"/>
          </a:xfrm>
          <a:prstGeom prst="rect">
            <a:avLst/>
          </a:prstGeom>
          <a:noFill/>
          <a:ln w="0">
            <a:noFill/>
          </a:ln>
        </p:spPr>
        <p:txBody>
          <a:bodyPr lIns="101520" tIns="0" rIns="82440" bIns="0" anchor="t">
            <a:norm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  <a:def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9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ftr" idx="20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sldNum" idx="21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A31790-77BB-452A-B5F1-338459A46EBA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3EBC23-0432-45DD-B66B-0F1F5524846A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A7263-6631-4D0C-8D27-34C1D211DE85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body" hasCustomPrompt="1"/>
          </p:nvPr>
        </p:nvSpPr>
        <p:spPr>
          <a:xfrm>
            <a:off x="608400" y="1555200"/>
            <a:ext cx="5232600" cy="4607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1pPr>
            <a:lvl2pPr marL="228600" lvl="1" indent="-228600" algn="l" defTabSz="914400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2pPr>
            <a:lvl3pPr marL="228600" lvl="2" indent="-228600" algn="l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3pPr>
            <a:lvl4pPr marL="228600" lvl="3" indent="-228600" algn="l" defTabSz="914400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4pPr>
            <a:lvl5pPr marL="228600" lvl="4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5pPr>
            <a:lvl6pPr marL="228600" lvl="5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6pPr>
            <a:lvl7pPr marL="228600" lvl="6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  <a:def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defRPr>
            </a:lvl7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Click to edit the outline text format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1" indent="-228600" algn="l" defTabSz="914400">
              <a:lnSpc>
                <a:spcPct val="12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Second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2" indent="-228600" algn="l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Third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3" indent="-228600" algn="l" defTabSz="914400">
              <a:lnSpc>
                <a:spcPct val="12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Fourth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4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Fifth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5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Sixth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lvl="6" indent="-228600" algn="l" defTabSz="914400">
              <a:lnSpc>
                <a:spcPct val="12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</a:rPr>
              <a:t>Seventh Outline Level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350400" y="1555200"/>
            <a:ext cx="5226840" cy="4607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228600" indent="-228600" algn="l" defTabSz="914400">
              <a:lnSpc>
                <a:spcPct val="130000"/>
              </a:lnSpc>
              <a:spcAft>
                <a:spcPts val="1000"/>
              </a:spcAft>
              <a:buNone/>
              <a:tabLst>
                <a:tab pos="0" algn="l"/>
              </a:tabLst>
              <a:def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A1E467-773C-439C-9071-7C6B3F8A47BA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7160" rIns="90000" bIns="4716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单击此处编辑母版标题样式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3640" cy="5028840"/>
          </a:xfrm>
          <a:prstGeom prst="rect">
            <a:avLst/>
          </a:prstGeom>
          <a:noFill/>
          <a:ln w="0">
            <a:noFill/>
          </a:ln>
        </p:spPr>
        <p:txBody>
          <a:bodyPr vert="eaVert" lIns="90000" tIns="46800" rIns="90000" bIns="4680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zh-CN" sz="28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zh-CN" sz="28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单击此处编辑标题</a:t>
            </a:r>
            <a:endParaRPr lang="en-US" sz="28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914400" y="914400"/>
            <a:ext cx="9168840" cy="5028840"/>
          </a:xfrm>
          <a:prstGeom prst="rect">
            <a:avLst/>
          </a:prstGeom>
          <a:noFill/>
          <a:ln w="0">
            <a:noFill/>
          </a:ln>
        </p:spPr>
        <p:txBody>
          <a:bodyPr vert="eaVert" lIns="46800" tIns="46800" rIns="46800" bIns="46800" anchor="t">
            <a:noAutofit/>
          </a:bodyPr>
          <a:lstStyle>
            <a:lvl1pPr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8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  <a:lvl2pPr lvl="1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2pPr>
            <a:lvl3pPr lvl="2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  <a:defRPr lang="zh-CN" sz="16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3pPr>
            <a:lvl4pPr lvl="3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  <a:defRPr lang="zh-CN" sz="14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4pPr>
            <a:lvl5pPr lvl="4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  <a:defRPr lang="zh-CN" sz="14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5pPr>
          </a:lstStyle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8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单击此处编辑母版文本样式</a:t>
            </a:r>
            <a:endParaRPr lang="en-US" sz="1800" b="0" u="none" strike="noStrike" spc="30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685800" lvl="1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第二级</a:t>
            </a:r>
            <a:endParaRPr lang="en-US" sz="1600" b="0" u="none" strike="noStrike" spc="30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143000" lvl="2" indent="-2286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16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第三级</a:t>
            </a:r>
            <a:endParaRPr lang="en-US" sz="1600" b="0" u="none" strike="noStrike" spc="30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1600200" lvl="3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panose="05000000000000000000" pitchFamily="2" charset="2"/>
              <a:buChar char=""/>
              <a:tabLst>
                <a:tab pos="1609090" algn="l"/>
              </a:tabLst>
            </a:pPr>
            <a:r>
              <a:rPr lang="zh-CN" sz="14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第四级</a:t>
            </a:r>
            <a:endParaRPr lang="en-US" sz="1400" b="0" u="none" strike="noStrike" spc="30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057400" lvl="4" indent="-228600" algn="l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 panose="020B0704020202020204"/>
              <a:buChar char="•"/>
              <a:tabLst>
                <a:tab pos="1609090" algn="l"/>
              </a:tabLst>
            </a:pPr>
            <a:r>
              <a:rPr lang="zh-CN" sz="1400" b="0" u="none" strike="noStrike" spc="30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第五级</a:t>
            </a:r>
            <a:endParaRPr lang="en-US" sz="1400" b="0" u="none" strike="noStrike" spc="30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6E3524-13D9-4B74-B441-69D8E2E5C576}" type="slidenum">
              <a:rPr lang="en-US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4"/>
          <p:cNvSpPr/>
          <p:nvPr/>
        </p:nvSpPr>
        <p:spPr>
          <a:xfrm>
            <a:off x="0" y="-72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70C0">
                  <a:alpha val="84000"/>
                </a:srgbClr>
              </a:gs>
              <a:gs pos="40000">
                <a:srgbClr val="0090D8">
                  <a:alpha val="17000"/>
                </a:srgbClr>
              </a:gs>
              <a:gs pos="100000">
                <a:srgbClr val="00B0F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游戏搭子匹配工具</a:t>
            </a:r>
            <a:br>
              <a:rPr sz="6000"/>
            </a:br>
            <a:r>
              <a: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大作业验收</a:t>
            </a:r>
            <a:endParaRPr lang="en-US" sz="60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198800" y="3560400"/>
            <a:ext cx="9798840" cy="1472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ctr" defTabSz="914400">
              <a:lnSpc>
                <a:spcPct val="11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en-US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18#</a:t>
            </a:r>
            <a:r>
              <a:rPr lang="zh-CN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组</a:t>
            </a:r>
            <a:endParaRPr lang="en-US" sz="2400" b="0" u="none" strike="noStrike" spc="201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indent="0" algn="ctr" defTabSz="914400">
              <a:lnSpc>
                <a:spcPct val="110000"/>
              </a:lnSpc>
              <a:spcAft>
                <a:spcPts val="1000"/>
              </a:spcAft>
              <a:buNone/>
              <a:tabLst>
                <a:tab pos="0" algn="l"/>
              </a:tabLst>
            </a:pPr>
            <a:r>
              <a:rPr lang="zh-CN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林冠泽 黄思远 余</a:t>
            </a:r>
            <a:r>
              <a:rPr lang="zh-CN" sz="2400" b="0" u="none" strike="noStrike" spc="201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泓逸 何宇恒 吴禹辰</a:t>
            </a:r>
            <a:endParaRPr lang="en-US" sz="2400" b="0" u="none" strike="noStrike" spc="201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3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项目背景与概述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项目简介：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一款面向游戏玩家的搭子匹配</a:t>
            </a: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App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用户可发布游戏招募、浏览并回应别人的招募、实时聊天、互相评价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配套管理员 </a:t>
            </a:r>
            <a:r>
              <a:rPr lang="en-US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Web </a:t>
            </a: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后台，实现内容审核与用户管理闭环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专攻游戏搭子，追求高效简洁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技术栈：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C#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ASP.NET Core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Milvus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RabbitMQ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TypeScript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React / React Native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algn="l" defTabSz="914400">
              <a:lnSpc>
                <a:spcPct val="120000"/>
              </a:lnSpc>
              <a:spcAft>
                <a:spcPts val="600"/>
              </a:spcAft>
              <a:buClr>
                <a:srgbClr val="595959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5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Expo</a:t>
            </a:r>
            <a:endParaRPr lang="en-US" sz="15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3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产品特色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设计：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轻量、简约、易操作，垂直游戏领域的搭子找寻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架构：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管理员与用户数据隔离，不同前端共用一个后端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技术选型：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对不同数据采用不同存储：</a:t>
            </a:r>
            <a:r>
              <a: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Milvus</a:t>
            </a: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、</a:t>
            </a:r>
            <a:r>
              <a: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MinIO</a:t>
            </a:r>
            <a:r>
              <a:rPr lang="zh-CN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、</a:t>
            </a:r>
            <a:r>
              <a:rPr lang="en-US" sz="18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MariaDB</a:t>
            </a:r>
            <a:endParaRPr lang="en-US" sz="18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软件实现：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智能招募推荐、实时消息推送、无感知</a:t>
            </a:r>
            <a:r>
              <a:rPr lang="en-US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token</a:t>
            </a: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管理、标签缓存机制、管理闭环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3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亮点与创新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思路创新：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传统游戏社区以内容主导，传统搭子匹配偏向现实生活，而我们从游戏连接人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先私聊几句，再建立长期联系，打破好友添加心理门槛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细化搭子筛选，通过招募标签区分不同需求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技术亮点：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使用智能手段生成、向量数据库存储的用户画像，个性化排序首页招募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使用</a:t>
            </a:r>
            <a:r>
              <a:rPr lang="en-US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MinIO</a:t>
            </a: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存储图片，在数据库中保存</a:t>
            </a:r>
            <a:r>
              <a:rPr lang="en-US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url</a:t>
            </a: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，减轻数据压力，预留扩容空间</a:t>
            </a:r>
            <a:endParaRPr lang="en-US" sz="177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基于 </a:t>
            </a:r>
            <a:r>
              <a:rPr lang="en-US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SignalR </a:t>
            </a: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的 </a:t>
            </a:r>
            <a:r>
              <a:rPr lang="en-US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WebSocket </a:t>
            </a: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实时通信，在非聊天界面通过弹窗推送</a:t>
            </a:r>
            <a:endParaRPr lang="en-US" sz="177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数据软删除，只记录状态而保留在数据库中，可溯源</a:t>
            </a:r>
            <a:endParaRPr lang="en-US" sz="177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7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用户端运用路由守卫分流，根据不同状态决策不同页面</a:t>
            </a:r>
            <a:endParaRPr lang="en-US" sz="177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endParaRPr lang="en-US" sz="177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3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软件架构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5880" y="1490400"/>
            <a:ext cx="548100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基于接口的设计：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前后端使用</a:t>
            </a:r>
            <a:r>
              <a:rPr lang="en-US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api</a:t>
            </a: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通信，通过</a:t>
            </a:r>
            <a:r>
              <a:rPr lang="en-US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dto</a:t>
            </a: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传输，可以在遵循接口定义的情况下分别修改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后端服务层通过接口与注入实现，高内聚低耦合，便于替换和测试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设计模式：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策略模式：依据用户认证状态决策页面路由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代理模式：用</a:t>
            </a:r>
            <a:r>
              <a:rPr lang="en-US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RabbitMQ</a:t>
            </a: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缓存用户画像更新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工厂模式：静态工厂方法包裹</a:t>
            </a:r>
            <a:r>
              <a:rPr lang="en-US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api</a:t>
            </a:r>
            <a:r>
              <a:rPr lang="zh-CN" sz="178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响应</a:t>
            </a:r>
            <a:endParaRPr lang="en-US" sz="178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grpSp>
        <p:nvGrpSpPr>
          <p:cNvPr id="81" name="组合 7"/>
          <p:cNvGrpSpPr/>
          <p:nvPr/>
        </p:nvGrpSpPr>
        <p:grpSpPr>
          <a:xfrm>
            <a:off x="736560" y="1543680"/>
            <a:ext cx="3969000" cy="979560"/>
            <a:chOff x="736560" y="1543680"/>
            <a:chExt cx="3969000" cy="979560"/>
          </a:xfrm>
        </p:grpSpPr>
        <p:sp>
          <p:nvSpPr>
            <p:cNvPr id="82" name="矩形 4"/>
            <p:cNvSpPr/>
            <p:nvPr/>
          </p:nvSpPr>
          <p:spPr>
            <a:xfrm>
              <a:off x="736560" y="1543680"/>
              <a:ext cx="1594800" cy="979560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solidFill>
                <a:srgbClr val="2E54A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用户移动端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React Native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Expo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</p:txBody>
        </p:sp>
        <p:sp>
          <p:nvSpPr>
            <p:cNvPr id="83" name="矩形 5"/>
            <p:cNvSpPr/>
            <p:nvPr/>
          </p:nvSpPr>
          <p:spPr>
            <a:xfrm>
              <a:off x="3110760" y="1543680"/>
              <a:ext cx="1594800" cy="979560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solidFill>
                <a:srgbClr val="2E54A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管理员</a:t>
              </a: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Web</a:t>
              </a:r>
              <a:r>
                <a:rPr lang="zh-CN" sz="18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端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React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Arial" panose="020B0704020202020204"/>
                  <a:ea typeface="微软雅黑"/>
                </a:rPr>
                <a:t>Ant Design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</a:endParaRPr>
            </a:p>
          </p:txBody>
        </p:sp>
      </p:grpSp>
      <p:sp>
        <p:nvSpPr>
          <p:cNvPr id="84" name="矩形 6"/>
          <p:cNvSpPr/>
          <p:nvPr/>
        </p:nvSpPr>
        <p:spPr>
          <a:xfrm>
            <a:off x="736560" y="3147840"/>
            <a:ext cx="3969000" cy="97956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zh-CN" sz="1800" b="0" u="none" strike="noStrike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共用后端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704020202020204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ASP.NET Core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704020202020204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Controllers -&gt; Services -&gt; EF Core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 panose="020B0704020202020204"/>
            </a:endParaRPr>
          </a:p>
        </p:txBody>
      </p:sp>
      <p:cxnSp>
        <p:nvCxnSpPr>
          <p:cNvPr id="85" name="直接箭头连接符 8"/>
          <p:cNvCxnSpPr>
            <a:stCxn id="82" idx="2"/>
            <a:endCxn id="84" idx="0"/>
          </p:cNvCxnSpPr>
          <p:nvPr/>
        </p:nvCxnSpPr>
        <p:spPr>
          <a:xfrm>
            <a:off x="1533960" y="2523240"/>
            <a:ext cx="1187640" cy="624960"/>
          </a:xfrm>
          <a:prstGeom prst="straightConnector1">
            <a:avLst/>
          </a:prstGeom>
          <a:ln>
            <a:solidFill>
              <a:srgbClr val="4874CB"/>
            </a:solidFill>
            <a:tailEnd type="arrow" w="med" len="med"/>
          </a:ln>
        </p:spPr>
      </p:cxnSp>
      <p:cxnSp>
        <p:nvCxnSpPr>
          <p:cNvPr id="86" name="直接箭头连接符 9"/>
          <p:cNvCxnSpPr>
            <a:stCxn id="83" idx="2"/>
            <a:endCxn id="84" idx="0"/>
          </p:cNvCxnSpPr>
          <p:nvPr/>
        </p:nvCxnSpPr>
        <p:spPr>
          <a:xfrm flipH="1">
            <a:off x="2721240" y="2523240"/>
            <a:ext cx="1187280" cy="624960"/>
          </a:xfrm>
          <a:prstGeom prst="straightConnector1">
            <a:avLst/>
          </a:prstGeom>
          <a:ln>
            <a:solidFill>
              <a:srgbClr val="4874CB"/>
            </a:solidFill>
            <a:tailEnd type="arrow" w="med" len="med"/>
          </a:ln>
        </p:spPr>
      </p:cxnSp>
      <p:sp>
        <p:nvSpPr>
          <p:cNvPr id="87" name="矩形 10"/>
          <p:cNvSpPr/>
          <p:nvPr/>
        </p:nvSpPr>
        <p:spPr>
          <a:xfrm>
            <a:off x="736560" y="4751640"/>
            <a:ext cx="3969000" cy="97956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MariaDB  Milvus  MinIO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704020202020204"/>
            </a:endParaRPr>
          </a:p>
        </p:txBody>
      </p:sp>
      <p:cxnSp>
        <p:nvCxnSpPr>
          <p:cNvPr id="88" name="直接箭头连接符 11"/>
          <p:cNvCxnSpPr>
            <a:stCxn id="84" idx="2"/>
            <a:endCxn id="87" idx="0"/>
          </p:cNvCxnSpPr>
          <p:nvPr/>
        </p:nvCxnSpPr>
        <p:spPr>
          <a:xfrm>
            <a:off x="2721240" y="4127400"/>
            <a:ext cx="360" cy="624600"/>
          </a:xfrm>
          <a:prstGeom prst="straightConnector1">
            <a:avLst/>
          </a:prstGeom>
          <a:ln>
            <a:solidFill>
              <a:srgbClr val="4874CB"/>
            </a:solidFill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1"/>
          <p:cNvSpPr/>
          <p:nvPr/>
        </p:nvSpPr>
        <p:spPr>
          <a:xfrm>
            <a:off x="731520" y="122040"/>
            <a:ext cx="10972440" cy="792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4540" b="1" u="none" strike="noStrike">
                <a:solidFill>
                  <a:srgbClr val="FFFFFF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测试与质量</a:t>
            </a:r>
            <a:endParaRPr lang="en-US" sz="454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731520" y="1402200"/>
            <a:ext cx="5120280" cy="3096360"/>
          </a:xfrm>
          <a:prstGeom prst="roundRect">
            <a:avLst>
              <a:gd name="adj" fmla="val 2362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1" name="Text 3"/>
          <p:cNvSpPr/>
          <p:nvPr/>
        </p:nvSpPr>
        <p:spPr>
          <a:xfrm>
            <a:off x="914400" y="1499760"/>
            <a:ext cx="4754520" cy="38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单元测试（</a:t>
            </a:r>
            <a:r>
              <a:rPr lang="en-US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326</a:t>
            </a: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项，</a:t>
            </a:r>
            <a:r>
              <a:rPr lang="en-US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321</a:t>
            </a: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通过）     </a:t>
            </a:r>
            <a:r>
              <a:rPr lang="en-US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89.6%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2" name="Text 4"/>
          <p:cNvSpPr/>
          <p:nvPr/>
        </p:nvSpPr>
        <p:spPr>
          <a:xfrm>
            <a:off x="999720" y="19386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覆盖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16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个服务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+ 10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个控制器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3" name="Text 5"/>
          <p:cNvSpPr/>
          <p:nvPr/>
        </p:nvSpPr>
        <p:spPr>
          <a:xfrm>
            <a:off x="999720" y="22554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TokenService/MapperService: 100%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4" name="Text 6"/>
          <p:cNvSpPr/>
          <p:nvPr/>
        </p:nvSpPr>
        <p:spPr>
          <a:xfrm>
            <a:off x="999720" y="25725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ReviewService: 96.1% · MessageService: 91.2%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5" name="Text 7"/>
          <p:cNvSpPr/>
          <p:nvPr/>
        </p:nvSpPr>
        <p:spPr>
          <a:xfrm>
            <a:off x="999720" y="28893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Admin/Feedback/Report: 100%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6" name="Text 8"/>
          <p:cNvSpPr/>
          <p:nvPr/>
        </p:nvSpPr>
        <p:spPr>
          <a:xfrm>
            <a:off x="999720" y="320652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AuthService: 78.4% · Recruitment: 65.1%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7" name="Text 9"/>
          <p:cNvSpPr/>
          <p:nvPr/>
        </p:nvSpPr>
        <p:spPr>
          <a:xfrm>
            <a:off x="999720" y="352332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AuthController 89% · AdminController 71%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999720" y="384048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NotificationController 97% · Image 78%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731520" y="4145400"/>
            <a:ext cx="5120280" cy="24379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914400" y="4242960"/>
            <a:ext cx="4754520" cy="38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边界</a:t>
            </a:r>
            <a:r>
              <a:rPr lang="en-US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/</a:t>
            </a: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异常测试（</a:t>
            </a:r>
            <a:r>
              <a:rPr lang="en-US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68</a:t>
            </a: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项）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999720" y="46818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消息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6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分支：关闭拒绝、受限门控、状态升级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999720" y="49986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认证：封禁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/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注销拦截、重复注册、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Token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过期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999720" y="53157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评价：自评守卫、重复评价守卫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999720" y="56325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图片：扩展名白名单、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5MB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大小限制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999720" y="594972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招募：已删除更新拦截、多条件组合过滤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6" name="Shape 18"/>
          <p:cNvSpPr/>
          <p:nvPr/>
        </p:nvSpPr>
        <p:spPr>
          <a:xfrm>
            <a:off x="6217920" y="1389960"/>
            <a:ext cx="5120280" cy="24379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6522840" y="1499760"/>
            <a:ext cx="4754520" cy="38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安全测试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6608160" y="19386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JWT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双令牌认证（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Access + Refresh Token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）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6608160" y="225540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BCrypt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自适应哈希加盐，防彩虹表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6608160" y="25725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角色权限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[Authorize(Roles="Admin")]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6608160" y="288936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Refresh Token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自动轮换与撤销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6608160" y="320652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CORS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防护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+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参数白名单校验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6339960" y="3474720"/>
            <a:ext cx="5120280" cy="24379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6522840" y="3572280"/>
            <a:ext cx="4754520" cy="38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1870" b="1" u="none" strike="noStrike">
                <a:solidFill>
                  <a:schemeClr val="dk1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测试框架与工具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6608160" y="401112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xUnit + Moq + EF Core InMemory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6608160" y="432828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coverlet + ReportGenerator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覆盖率报告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6608160" y="464508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每个测试独立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DB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实例保证隔离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6608160" y="496224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排除自动生成代码后覆盖 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89.6%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6608160" y="5279040"/>
            <a:ext cx="45838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marL="457200" indent="-45720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HTML </a:t>
            </a:r>
            <a:r>
              <a:rPr lang="zh-CN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报告：</a:t>
            </a:r>
            <a:r>
              <a:rPr lang="en-US" sz="1470" b="0" u="none" strike="noStrike">
                <a:solidFill>
                  <a:srgbClr val="444444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coverage-report/index.html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20" name="Text 32"/>
          <p:cNvSpPr/>
          <p:nvPr/>
        </p:nvSpPr>
        <p:spPr>
          <a:xfrm>
            <a:off x="609480" y="6278760"/>
            <a:ext cx="11216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注：</a:t>
            </a:r>
            <a:r>
              <a:rPr lang="en-US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5 </a:t>
            </a:r>
            <a:r>
              <a:rPr lang="zh-CN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项跳过因 </a:t>
            </a:r>
            <a:r>
              <a:rPr lang="en-US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InMemory </a:t>
            </a:r>
            <a:r>
              <a:rPr lang="zh-CN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不支持 </a:t>
            </a:r>
            <a:r>
              <a:rPr lang="en-US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ExecuteUpdate/DeleteAsync</a:t>
            </a:r>
            <a:r>
              <a:rPr lang="zh-CN" sz="1340" b="0" i="1" u="none" strike="noStrike">
                <a:solidFill>
                  <a:srgbClr val="888888"/>
                </a:solidFill>
                <a:effectLst/>
                <a:uFillTx/>
                <a:latin typeface="Arial" panose="020B0704020202020204"/>
                <a:ea typeface="Arial" panose="020B0704020202020204"/>
              </a:rPr>
              <a:t>。集成测试与性能测试暂未实施。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21" name="矩形 35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22" name="标题 1"/>
          <p:cNvSpPr/>
          <p:nvPr/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测试与质量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 3"/>
          <p:cNvSpPr/>
          <p:nvPr/>
        </p:nvSpPr>
        <p:spPr>
          <a:xfrm>
            <a:off x="0" y="0"/>
            <a:ext cx="12191760" cy="6858360"/>
          </a:xfrm>
          <a:prstGeom prst="rect">
            <a:avLst/>
          </a:prstGeom>
          <a:gradFill rotWithShape="0">
            <a:gsLst>
              <a:gs pos="0">
                <a:srgbClr val="0070C0"/>
              </a:gs>
              <a:gs pos="52000">
                <a:srgbClr val="0090D8">
                  <a:alpha val="53000"/>
                </a:srgbClr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zh-CN" sz="6000" b="0" u="none" strike="noStrike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系统演示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3"/>
          <p:cNvSpPr/>
          <p:nvPr/>
        </p:nvSpPr>
        <p:spPr>
          <a:xfrm>
            <a:off x="-720" y="0"/>
            <a:ext cx="12192120" cy="1221840"/>
          </a:xfrm>
          <a:prstGeom prst="rect">
            <a:avLst/>
          </a:prstGeom>
          <a:gradFill rotWithShape="0">
            <a:gsLst>
              <a:gs pos="0">
                <a:srgbClr val="0070C0">
                  <a:alpha val="61000"/>
                </a:srgbClr>
              </a:gs>
              <a:gs pos="24000">
                <a:srgbClr val="0090D8"/>
              </a:gs>
              <a:gs pos="100000">
                <a:srgbClr val="00B0F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8400" y="36576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zh-CN" sz="3600" b="0" u="none" strike="noStrike" spc="300">
                <a:solidFill>
                  <a:schemeClr val="lt1"/>
                </a:solidFill>
                <a:effectLst/>
                <a:uFillTx/>
                <a:latin typeface="Arial" panose="020B0704020202020204"/>
                <a:ea typeface="微软雅黑"/>
              </a:rPr>
              <a:t>经验与教训</a:t>
            </a:r>
            <a:endParaRPr lang="en-US" sz="36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160909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经验：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大模型在已有决策时执行效率高，在开发时先构建决策再与大模型协同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有效的提问比代码审查更重要，细致的提示词生成的代码更可能跑通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大模型助力快速验证新技术可行性，降低试错成本，提升技术转化为成果的效率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228600" indent="-228600" algn="l" defTabSz="914400">
              <a:lnSpc>
                <a:spcPct val="130000"/>
              </a:lnSpc>
              <a:spcAft>
                <a:spcPts val="1000"/>
              </a:spcAft>
              <a:buClr>
                <a:srgbClr val="595959"/>
              </a:buClr>
              <a:buFont typeface="Arial" panose="020B0704020202020204"/>
              <a:buChar char="●"/>
              <a:tabLst>
                <a:tab pos="0" algn="l"/>
              </a:tabLst>
            </a:pPr>
            <a:r>
              <a:rPr lang="zh-CN" sz="20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教训：</a:t>
            </a:r>
            <a:endParaRPr lang="en-US" sz="20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过度依赖大模型会导致对代码的理解模糊，应当时刻掌握大模型生成的内容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大模型容易过度或过时设计，需要在提示词阶段综合考虑并加以制约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  <a:p>
            <a:pPr marL="457200" indent="0" algn="l" defTabSz="914400">
              <a:lnSpc>
                <a:spcPct val="120000"/>
              </a:lnSpc>
              <a:spcAft>
                <a:spcPts val="600"/>
              </a:spcAft>
              <a:buNone/>
              <a:tabLst>
                <a:tab pos="0" algn="l"/>
              </a:tabLst>
            </a:pPr>
            <a:r>
              <a:rPr lang="zh-CN" sz="1600" b="0" u="none" strike="noStrike" spc="150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小组沟通不充分会产生重复工作，任务分配应随时间滚动更新</a:t>
            </a:r>
            <a:endParaRPr lang="en-US" sz="1600" b="0" u="none" strike="noStrike" spc="15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4"/>
          <p:cNvSpPr/>
          <p:nvPr/>
        </p:nvSpPr>
        <p:spPr>
          <a:xfrm>
            <a:off x="0" y="-72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70C0">
                  <a:alpha val="84000"/>
                </a:srgbClr>
              </a:gs>
              <a:gs pos="40000">
                <a:srgbClr val="0090D8">
                  <a:alpha val="17000"/>
                </a:srgbClr>
              </a:gs>
              <a:gs pos="100000">
                <a:srgbClr val="00B0F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 hasCustomPrompt="1"/>
          </p:nvPr>
        </p:nvSpPr>
        <p:spPr>
          <a:xfrm>
            <a:off x="1198800" y="2493000"/>
            <a:ext cx="9798840" cy="101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zh-CN" sz="6000" b="0" u="none" strike="noStrike" spc="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/>
                <a:ea typeface="微软雅黑"/>
              </a:rPr>
              <a:t>谢谢！</a:t>
            </a:r>
            <a:endParaRPr lang="en-US" sz="6000" b="0" u="none" strike="noStrike" spc="300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  <a:tileRect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  <a:tileRect/>
        </a:gradFill>
      </a:fillStyleLst>
      <a:lnStyleLst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1742</Words>
  <Application>WPS 演示</Application>
  <PresentationFormat/>
  <Paragraphs>144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方正雅意黑 GB18030L2</vt:lpstr>
      <vt:lpstr>Times New Roman</vt:lpstr>
      <vt:lpstr>Symbol</vt:lpstr>
      <vt:lpstr>Kingsoft Sign</vt:lpstr>
      <vt:lpstr>微软雅黑</vt:lpstr>
      <vt:lpstr>宋体</vt:lpstr>
      <vt:lpstr>Arial Unicode MS</vt:lpstr>
      <vt:lpstr>汉仪书宋二KW</vt:lpstr>
      <vt:lpstr>DejaVu Sans</vt:lpstr>
      <vt:lpstr>苹方-简</vt:lpstr>
      <vt:lpstr>Calibri</vt:lpstr>
      <vt:lpstr>Helvetica Neue</vt:lpstr>
      <vt:lpstr>Symbol</vt:lpstr>
      <vt:lpstr>Times New Roman</vt:lpstr>
      <vt:lpstr>Wingdings</vt:lpstr>
      <vt:lpstr>微软雅黑</vt:lpstr>
      <vt:lpstr>WPS</vt:lpstr>
      <vt:lpstr>游戏搭子匹配工具 大作业验收</vt:lpstr>
      <vt:lpstr>项目背景与概述</vt:lpstr>
      <vt:lpstr>产品特色</vt:lpstr>
      <vt:lpstr>亮点与创新</vt:lpstr>
      <vt:lpstr>软件架构</vt:lpstr>
      <vt:lpstr>PowerPoint 演示文稿</vt:lpstr>
      <vt:lpstr>PowerPoint 演示文稿</vt:lpstr>
      <vt:lpstr>经验与教训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Maltuned</cp:lastModifiedBy>
  <cp:revision>168</cp:revision>
  <dcterms:created xsi:type="dcterms:W3CDTF">2026-07-31T11:59:44Z</dcterms:created>
  <dcterms:modified xsi:type="dcterms:W3CDTF">2026-07-31T11:59:44Z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02449EE988F149219EC2D4211661A800_11</vt:lpwstr>
  </property>
  <property fmtid="{D5CDD505-2E9C-101B-9397-08002B2CF9AE}" pid="3" name="KSOProductBuildVer">
    <vt:lpwstr>2052-12.1.26050.26050</vt:lpwstr>
  </property>
  <property fmtid="{D5CDD505-2E9C-101B-9397-08002B2CF9AE}" pid="4" name="Notes">
    <vt:i4>1</vt:i4>
  </property>
  <property fmtid="{D5CDD505-2E9C-101B-9397-08002B2CF9AE}" pid="5" name="PresentationFormat">
    <vt:lpwstr>宽屏</vt:lpwstr>
  </property>
  <property fmtid="{D5CDD505-2E9C-101B-9397-08002B2CF9AE}" pid="6" name="Slides">
    <vt:i4>11</vt:i4>
  </property>
</Properties>
</file>